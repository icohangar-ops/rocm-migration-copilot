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1"/>
          <p:cNvSpPr/>
          <p:nvPr/>
        </p:nvSpPr>
        <p:spPr>
          <a:xfrm>
            <a:off x="8872538" y="192881"/>
            <a:ext cx="85725" cy="0"/>
          </a:xfrm>
          <a:prstGeom prst="line">
            <a:avLst/>
          </a:prstGeom>
          <a:noFill/>
          <a:ln w="14288">
            <a:solidFill>
              <a:srgbClr val="16161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951119" y="185738"/>
            <a:ext cx="0" cy="85725"/>
          </a:xfrm>
          <a:prstGeom prst="line">
            <a:avLst/>
          </a:prstGeom>
          <a:noFill/>
          <a:ln w="14288">
            <a:solidFill>
              <a:srgbClr val="16161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28638" y="414338"/>
            <a:ext cx="861536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AMD AI ACADEMY CHALLENGE · SEPT – DEC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28638" y="1196243"/>
            <a:ext cx="8615363" cy="166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75"/>
              </a:lnSpc>
              <a:buNone/>
            </a:pPr>
            <a:r>
              <a:rPr lang="en-US" sz="6075" b="1" spc="-213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ROCm Migration</a:t>
            </a:r>
            <a:endParaRPr lang="en-US" sz="6075" dirty="0"/>
          </a:p>
          <a:p>
            <a:pPr algn="l" indent="0" marL="0">
              <a:lnSpc>
                <a:spcPts val="6075"/>
              </a:lnSpc>
              <a:buNone/>
            </a:pPr>
            <a:r>
              <a:rPr lang="en-US" sz="6075" b="1" spc="-213" kern="0" dirty="0">
                <a:solidFill>
                  <a:srgbClr val="A827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</a:t>
            </a:r>
            <a:endParaRPr lang="en-US" sz="6075" dirty="0"/>
          </a:p>
        </p:txBody>
      </p:sp>
      <p:sp>
        <p:nvSpPr>
          <p:cNvPr id="9" name="Text 5"/>
          <p:cNvSpPr/>
          <p:nvPr/>
        </p:nvSpPr>
        <p:spPr>
          <a:xfrm>
            <a:off x="528638" y="2953606"/>
            <a:ext cx="5143500" cy="44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 agent that frees GPU code from CUDA lock-in — it analyzes, ports, builds, tunes, and reports. </a:t>
            </a:r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Automatically.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528638" y="4088297"/>
            <a:ext cx="654434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50508" y="4150519"/>
            <a:ext cx="48394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21506" y="4143375"/>
            <a:ext cx="46869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268797" y="4121944"/>
            <a:ext cx="9144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1419039" y="4088297"/>
            <a:ext cx="512564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649425" y="4150519"/>
            <a:ext cx="32504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511908" y="4143375"/>
            <a:ext cx="3268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017328" y="4121944"/>
            <a:ext cx="9144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8" name="Text 14"/>
          <p:cNvSpPr/>
          <p:nvPr/>
        </p:nvSpPr>
        <p:spPr>
          <a:xfrm>
            <a:off x="2167570" y="4088297"/>
            <a:ext cx="891071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378880" y="4150519"/>
            <a:ext cx="741700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&amp; Test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260439" y="4143375"/>
            <a:ext cx="7053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144366" y="4121944"/>
            <a:ext cx="9144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3294608" y="4088297"/>
            <a:ext cx="512564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524994" y="4150519"/>
            <a:ext cx="32504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387477" y="4143375"/>
            <a:ext cx="3268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892897" y="4121944"/>
            <a:ext cx="9144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043139" y="4088297"/>
            <a:ext cx="607219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273525" y="4150519"/>
            <a:ext cx="441327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136008" y="4143375"/>
            <a:ext cx="4214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8638" y="4518422"/>
            <a:ext cx="8158163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28638" y="4639866"/>
            <a:ext cx="2901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B9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ROCM RANGERS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3444515" y="4639866"/>
            <a:ext cx="36391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B9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BUILD · OPEN SOURCE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097985" y="4639866"/>
            <a:ext cx="17480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B9BA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AMD DEVELOPER CLOUD · MI300X</a:t>
            </a:r>
            <a:endParaRPr lang="en-US" sz="61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4338"/>
            <a:ext cx="69706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60797"/>
            <a:ext cx="4557713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 code is trapped behind CUDA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472282"/>
            <a:ext cx="4572000" cy="865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8"/>
              </a:lnSpc>
              <a:buNone/>
            </a:pPr>
            <a:r>
              <a:rPr lang="en-US" sz="928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Millions of lines of production GPU code — from HPC simulations to AI inference servers — compile against one vendor's proprietary stack. Moving them to AMD's open ROCm ecosystem means weeks of manual rewriting by engineers who know both platforms. Almost nobody does.</a:t>
            </a:r>
            <a:endParaRPr lang="en-US" sz="928" dirty="0"/>
          </a:p>
        </p:txBody>
      </p:sp>
      <p:sp>
        <p:nvSpPr>
          <p:cNvPr id="5" name="Text 3"/>
          <p:cNvSpPr/>
          <p:nvPr/>
        </p:nvSpPr>
        <p:spPr>
          <a:xfrm>
            <a:off x="457200" y="3677245"/>
            <a:ext cx="5017703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841552"/>
            <a:ext cx="221422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2–6 weeks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57200" y="4213027"/>
            <a:ext cx="136302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manual port of a mid-size repo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77058" y="3841552"/>
            <a:ext cx="196809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vendor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77058" y="4213027"/>
            <a:ext cx="121443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 every line of code answers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24796" y="3841552"/>
            <a:ext cx="30107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verification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724796" y="4213027"/>
            <a:ext cx="1514475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today's syntax-only conversion tools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657725"/>
            <a:ext cx="50177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i="1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hipify-perl rewrites syntax — it cannot reason about kernels, memory models, or build systems.</a:t>
            </a:r>
            <a:endParaRPr lang="en-US" sz="675" dirty="0"/>
          </a:p>
        </p:txBody>
      </p:sp>
      <p:pic>
        <p:nvPicPr>
          <p:cNvPr id="13" name="Image 0" descr="/tmp/h2p-fit-1788297543868-uwdk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653" y="171450"/>
            <a:ext cx="3211785" cy="4800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60653" y="4600575"/>
            <a:ext cx="3211785" cy="371475"/>
          </a:xfrm>
          <a:prstGeom prst="rect">
            <a:avLst/>
          </a:prstGeom>
          <a:solidFill>
            <a:srgbClr val="16161A">
              <a:alpha val="6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03528" y="4750594"/>
            <a:ext cx="287175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MIGRATION GAP — MANUAL, SLOW, ERROR-PRONE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32222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 multi-week port to an afternoon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178719"/>
            <a:ext cx="4014788" cy="2861072"/>
          </a:xfrm>
          <a:prstGeom prst="roundRect">
            <a:avLst>
              <a:gd name="adj" fmla="val 3329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8656" y="1382316"/>
            <a:ext cx="3579019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 — manual porting</a:t>
            </a:r>
            <a:endParaRPr lang="en-US" sz="1181" dirty="0"/>
          </a:p>
        </p:txBody>
      </p:sp>
      <p:sp>
        <p:nvSpPr>
          <p:cNvPr id="6" name="Text 4"/>
          <p:cNvSpPr/>
          <p:nvPr/>
        </p:nvSpPr>
        <p:spPr>
          <a:xfrm>
            <a:off x="678656" y="1930152"/>
            <a:ext cx="20431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935831" y="1935398"/>
            <a:ext cx="3321844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Grep for CUDA API calls across the repo</a:t>
            </a:r>
            <a:endParaRPr lang="en-US" sz="816" dirty="0"/>
          </a:p>
        </p:txBody>
      </p:sp>
      <p:sp>
        <p:nvSpPr>
          <p:cNvPr id="8" name="Shape 6"/>
          <p:cNvSpPr/>
          <p:nvPr/>
        </p:nvSpPr>
        <p:spPr>
          <a:xfrm>
            <a:off x="678656" y="2345941"/>
            <a:ext cx="3579019" cy="0"/>
          </a:xfrm>
          <a:prstGeom prst="line">
            <a:avLst/>
          </a:prstGeom>
          <a:noFill/>
          <a:ln w="7144">
            <a:solidFill>
              <a:srgbClr val="E6E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656" y="2428094"/>
            <a:ext cx="2043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935831" y="2433340"/>
            <a:ext cx="3321844" cy="15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Hand-rewrite every kernel and memory path</a:t>
            </a:r>
            <a:endParaRPr lang="en-US" sz="816" dirty="0"/>
          </a:p>
        </p:txBody>
      </p:sp>
      <p:sp>
        <p:nvSpPr>
          <p:cNvPr id="11" name="Shape 9"/>
          <p:cNvSpPr/>
          <p:nvPr/>
        </p:nvSpPr>
        <p:spPr>
          <a:xfrm>
            <a:off x="678656" y="2843882"/>
            <a:ext cx="3579019" cy="0"/>
          </a:xfrm>
          <a:prstGeom prst="line">
            <a:avLst/>
          </a:prstGeom>
          <a:noFill/>
          <a:ln w="7144">
            <a:solidFill>
              <a:srgbClr val="E6E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656" y="2926035"/>
            <a:ext cx="2043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935831" y="2931282"/>
            <a:ext cx="3321844" cy="15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Debug compiler errors one by one, for days</a:t>
            </a:r>
            <a:endParaRPr lang="en-US" sz="816" dirty="0"/>
          </a:p>
        </p:txBody>
      </p:sp>
      <p:sp>
        <p:nvSpPr>
          <p:cNvPr id="14" name="Shape 12"/>
          <p:cNvSpPr/>
          <p:nvPr/>
        </p:nvSpPr>
        <p:spPr>
          <a:xfrm>
            <a:off x="678656" y="3341712"/>
            <a:ext cx="3579019" cy="0"/>
          </a:xfrm>
          <a:prstGeom prst="line">
            <a:avLst/>
          </a:prstGeom>
          <a:noFill/>
          <a:ln w="7144">
            <a:solidFill>
              <a:srgbClr val="E6E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656" y="3423865"/>
            <a:ext cx="2043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935831" y="3429112"/>
            <a:ext cx="3321844" cy="15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Tune blind — no AMD hardware in the loop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4664869" y="1175147"/>
            <a:ext cx="4021931" cy="2868216"/>
          </a:xfrm>
          <a:prstGeom prst="roundRect">
            <a:avLst>
              <a:gd name="adj" fmla="val 3321"/>
            </a:avLst>
          </a:prstGeom>
          <a:solidFill>
            <a:srgbClr val="161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9181" y="1375172"/>
            <a:ext cx="3703034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ROCm Migration Copilot</a:t>
            </a:r>
            <a:endParaRPr lang="en-US" sz="1181" dirty="0"/>
          </a:p>
        </p:txBody>
      </p:sp>
      <p:sp>
        <p:nvSpPr>
          <p:cNvPr id="19" name="Text 17"/>
          <p:cNvSpPr/>
          <p:nvPr/>
        </p:nvSpPr>
        <p:spPr>
          <a:xfrm>
            <a:off x="4879181" y="1928813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8111" y="1937742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36356" y="1932273"/>
            <a:ext cx="3336131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command ingests the whole repository</a:t>
            </a:r>
            <a:endParaRPr lang="en-US" sz="816" dirty="0"/>
          </a:p>
        </p:txBody>
      </p:sp>
      <p:sp>
        <p:nvSpPr>
          <p:cNvPr id="22" name="Shape 20"/>
          <p:cNvSpPr/>
          <p:nvPr/>
        </p:nvSpPr>
        <p:spPr>
          <a:xfrm>
            <a:off x="4879181" y="2346722"/>
            <a:ext cx="35933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9181" y="242887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88111" y="2437805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36356" y="2432335"/>
            <a:ext cx="3336131" cy="15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plans the port before touching a line</a:t>
            </a:r>
            <a:endParaRPr lang="en-US" sz="816" dirty="0"/>
          </a:p>
        </p:txBody>
      </p:sp>
      <p:sp>
        <p:nvSpPr>
          <p:cNvPr id="26" name="Shape 24"/>
          <p:cNvSpPr/>
          <p:nvPr/>
        </p:nvSpPr>
        <p:spPr>
          <a:xfrm>
            <a:off x="4879181" y="2846784"/>
            <a:ext cx="35933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9181" y="2928938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8111" y="2937867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36356" y="2932398"/>
            <a:ext cx="3336131" cy="15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 code generated with full repo context</a:t>
            </a:r>
            <a:endParaRPr lang="en-US" sz="816" dirty="0"/>
          </a:p>
        </p:txBody>
      </p:sp>
      <p:sp>
        <p:nvSpPr>
          <p:cNvPr id="30" name="Shape 28"/>
          <p:cNvSpPr/>
          <p:nvPr/>
        </p:nvSpPr>
        <p:spPr>
          <a:xfrm>
            <a:off x="4879181" y="3346847"/>
            <a:ext cx="35933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9181" y="3429000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88111" y="3437930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36356" y="3432460"/>
            <a:ext cx="3336131" cy="15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Compiles, tests, and tunes on real AMD GPUs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460772" y="4232672"/>
            <a:ext cx="8222456" cy="507206"/>
          </a:xfrm>
          <a:prstGeom prst="roundRect">
            <a:avLst>
              <a:gd name="adj" fmla="val 18779"/>
            </a:avLst>
          </a:prstGeom>
          <a:solidFill>
            <a:srgbClr val="FBF1F0"/>
          </a:solidFill>
          <a:ln w="7144">
            <a:solidFill>
              <a:srgbClr val="EAD3D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231306" y="4407694"/>
            <a:ext cx="4681389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command in 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A827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verified, tuned, documented HIP codebase out.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32222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five-stage agentic pipeline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193006"/>
            <a:ext cx="1490142" cy="3289697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503" y="1343025"/>
            <a:ext cx="235744" cy="235744"/>
          </a:xfrm>
          <a:prstGeom prst="roundRect">
            <a:avLst>
              <a:gd name="adj" fmla="val 24242"/>
            </a:avLst>
          </a:prstGeom>
          <a:noFill/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33945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2931" y="1696641"/>
            <a:ext cx="12258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92931" y="1919883"/>
            <a:ext cx="1299372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AST parsing builds a kernel inventory and dependency graph; flags the long tail that hipify-perl misses.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54485" y="274498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143795" y="1193006"/>
            <a:ext cx="1490253" cy="3289697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79526" y="1343025"/>
            <a:ext cx="235744" cy="235744"/>
          </a:xfrm>
          <a:prstGeom prst="roundRect">
            <a:avLst>
              <a:gd name="adj" fmla="val 24242"/>
            </a:avLst>
          </a:prstGeom>
          <a:noFill/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75954" y="133945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75954" y="1696641"/>
            <a:ext cx="122593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275954" y="1919883"/>
            <a:ext cx="1299491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agent translates CUDA APIs, kernels, and memory management to HIP with repo-wide context.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37620" y="274498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826929" y="1193006"/>
            <a:ext cx="1490142" cy="3289697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62660" y="1343025"/>
            <a:ext cx="235744" cy="235744"/>
          </a:xfrm>
          <a:prstGeom prst="roundRect">
            <a:avLst>
              <a:gd name="adj" fmla="val 24242"/>
            </a:avLst>
          </a:prstGeom>
          <a:noFill/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59089" y="133945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59089" y="1696641"/>
            <a:ext cx="12258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&amp; Test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3959089" y="1919883"/>
            <a:ext cx="129937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compile and test loop on real AMD GPUs; every failure feeds back to the agent.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20643" y="274498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509952" y="1193006"/>
            <a:ext cx="1490253" cy="3289697"/>
          </a:xfrm>
          <a:prstGeom prst="roundRect">
            <a:avLst>
              <a:gd name="adj" fmla="val 6392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45683" y="1343025"/>
            <a:ext cx="235744" cy="235744"/>
          </a:xfrm>
          <a:prstGeom prst="roundRect">
            <a:avLst>
              <a:gd name="adj" fmla="val 24242"/>
            </a:avLst>
          </a:prstGeom>
          <a:noFill/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42111" y="133945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42111" y="1696641"/>
            <a:ext cx="122593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Tune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5642111" y="1919883"/>
            <a:ext cx="129949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advisor driven by Omniperf and Omnitrace profiles of the migrated code.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03777" y="274498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193087" y="1193006"/>
            <a:ext cx="1490142" cy="3289697"/>
          </a:xfrm>
          <a:prstGeom prst="roundRect">
            <a:avLst>
              <a:gd name="adj" fmla="val 6392"/>
            </a:avLst>
          </a:prstGeom>
          <a:solidFill>
            <a:srgbClr val="FBF1F0"/>
          </a:solidFill>
          <a:ln w="7144">
            <a:solidFill>
              <a:srgbClr val="EAD3D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28818" y="1343025"/>
            <a:ext cx="235744" cy="23574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25246" y="133945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25246" y="1696641"/>
            <a:ext cx="122582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</a:t>
            </a:r>
            <a:endParaRPr lang="en-US" sz="956" dirty="0"/>
          </a:p>
        </p:txBody>
      </p:sp>
      <p:sp>
        <p:nvSpPr>
          <p:cNvPr id="32" name="Text 30"/>
          <p:cNvSpPr/>
          <p:nvPr/>
        </p:nvSpPr>
        <p:spPr>
          <a:xfrm>
            <a:off x="7325246" y="1919883"/>
            <a:ext cx="129937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change logged with a confidence score and a human-review checklist.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08957" y="46791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080407" y="4672013"/>
            <a:ext cx="5606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build–test–fix loop runs autonomously until the port compiles and passes tests.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32222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 the hood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150144"/>
            <a:ext cx="4636405" cy="3618309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88297543791-wjld2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03" y="1244910"/>
            <a:ext cx="4136231" cy="3428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2921" y="1193006"/>
            <a:ext cx="292894" cy="292894"/>
          </a:xfrm>
          <a:prstGeom prst="roundRect">
            <a:avLst>
              <a:gd name="adj" fmla="val 26016"/>
            </a:avLst>
          </a:prstGeom>
          <a:solidFill>
            <a:srgbClr val="FBF1F0"/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65425" y="122551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8" name="Text 5"/>
          <p:cNvSpPr/>
          <p:nvPr/>
        </p:nvSpPr>
        <p:spPr>
          <a:xfrm>
            <a:off x="5743687" y="1189434"/>
            <a:ext cx="3052029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43687" y="1396603"/>
            <a:ext cx="26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with tool calling and RAG over official ROCm documentation.</a:t>
            </a:r>
            <a:endParaRPr lang="en-US" sz="703" dirty="0"/>
          </a:p>
        </p:txBody>
      </p:sp>
      <p:sp>
        <p:nvSpPr>
          <p:cNvPr id="10" name="Text 7"/>
          <p:cNvSpPr/>
          <p:nvPr/>
        </p:nvSpPr>
        <p:spPr>
          <a:xfrm>
            <a:off x="5329349" y="1889522"/>
            <a:ext cx="3357451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2921" y="2259211"/>
            <a:ext cx="292894" cy="292894"/>
          </a:xfrm>
          <a:prstGeom prst="roundRect">
            <a:avLst>
              <a:gd name="adj" fmla="val 26016"/>
            </a:avLst>
          </a:prstGeom>
          <a:solidFill>
            <a:srgbClr val="FBF1F0"/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365425" y="229171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☂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5743687" y="2255639"/>
            <a:ext cx="333303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AST precision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43687" y="2462808"/>
            <a:ext cx="284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LibClang and Tree-sitter parse CUDA for surgical, structure-aware edits.</a:t>
            </a:r>
            <a:endParaRPr lang="en-US" sz="703" dirty="0"/>
          </a:p>
        </p:txBody>
      </p:sp>
      <p:sp>
        <p:nvSpPr>
          <p:cNvPr id="15" name="Text 12"/>
          <p:cNvSpPr/>
          <p:nvPr/>
        </p:nvSpPr>
        <p:spPr>
          <a:xfrm>
            <a:off x="5329349" y="2955727"/>
            <a:ext cx="3357451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32921" y="3325416"/>
            <a:ext cx="292894" cy="292894"/>
          </a:xfrm>
          <a:prstGeom prst="roundRect">
            <a:avLst>
              <a:gd name="adj" fmla="val 26016"/>
            </a:avLst>
          </a:prstGeom>
          <a:solidFill>
            <a:srgbClr val="FBF1F0"/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65425" y="335792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18" name="Text 15"/>
          <p:cNvSpPr/>
          <p:nvPr/>
        </p:nvSpPr>
        <p:spPr>
          <a:xfrm>
            <a:off x="5743687" y="3321844"/>
            <a:ext cx="277804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Self-healing loop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43687" y="3529013"/>
            <a:ext cx="26457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 and test output drive the next fix — no human in the loop.</a:t>
            </a:r>
            <a:endParaRPr lang="en-US" sz="703" dirty="0"/>
          </a:p>
        </p:txBody>
      </p:sp>
      <p:sp>
        <p:nvSpPr>
          <p:cNvPr id="20" name="Text 17"/>
          <p:cNvSpPr/>
          <p:nvPr/>
        </p:nvSpPr>
        <p:spPr>
          <a:xfrm>
            <a:off x="5329349" y="4021931"/>
            <a:ext cx="3357451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32921" y="4391620"/>
            <a:ext cx="292894" cy="292894"/>
          </a:xfrm>
          <a:prstGeom prst="roundRect">
            <a:avLst>
              <a:gd name="adj" fmla="val 26016"/>
            </a:avLst>
          </a:prstGeom>
          <a:solidFill>
            <a:srgbClr val="FBF1F0"/>
          </a:solidFill>
          <a:ln w="7144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65425" y="442412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5743687" y="4388048"/>
            <a:ext cx="3400313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43687" y="4595217"/>
            <a:ext cx="294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+ LangGraph, running on ROCm-enabled MI300X cloud instances.</a:t>
            </a:r>
            <a:endParaRPr lang="en-US" sz="70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151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73298"/>
            <a:ext cx="863600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AMD, end to end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205508"/>
            <a:ext cx="2640732" cy="1692176"/>
          </a:xfrm>
          <a:prstGeom prst="roundRect">
            <a:avLst>
              <a:gd name="adj" fmla="val 5629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402854"/>
            <a:ext cx="20906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STACK /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0744" y="13662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635794" y="1666280"/>
            <a:ext cx="229068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ROCm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635794" y="1903363"/>
            <a:ext cx="2290688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open GPU software stack. Every layer inspectable, every commit public.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51522" y="1205508"/>
            <a:ext cx="2640843" cy="1692176"/>
          </a:xfrm>
          <a:prstGeom prst="roundRect">
            <a:avLst>
              <a:gd name="adj" fmla="val 5629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6544" y="1402854"/>
            <a:ext cx="2090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STACK / 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31607" y="13662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828" dirty="0"/>
          </a:p>
        </p:txBody>
      </p:sp>
      <p:sp>
        <p:nvSpPr>
          <p:cNvPr id="12" name="Text 10"/>
          <p:cNvSpPr/>
          <p:nvPr/>
        </p:nvSpPr>
        <p:spPr>
          <a:xfrm>
            <a:off x="3426544" y="1666280"/>
            <a:ext cx="229080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</a:t>
            </a:r>
            <a:endParaRPr lang="en-US" sz="1181" dirty="0"/>
          </a:p>
        </p:txBody>
      </p:sp>
      <p:sp>
        <p:nvSpPr>
          <p:cNvPr id="13" name="Text 11"/>
          <p:cNvSpPr/>
          <p:nvPr/>
        </p:nvSpPr>
        <p:spPr>
          <a:xfrm>
            <a:off x="3426544" y="1903363"/>
            <a:ext cx="2290800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Portable runtime and kernel language — CUDA's structure, AMD's openness.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42385" y="1205508"/>
            <a:ext cx="2640732" cy="1692176"/>
          </a:xfrm>
          <a:prstGeom prst="roundRect">
            <a:avLst>
              <a:gd name="adj" fmla="val 5629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7407" y="1402854"/>
            <a:ext cx="20906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CLOUD / 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2357" y="13662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828" dirty="0"/>
          </a:p>
        </p:txBody>
      </p:sp>
      <p:sp>
        <p:nvSpPr>
          <p:cNvPr id="17" name="Text 15"/>
          <p:cNvSpPr/>
          <p:nvPr/>
        </p:nvSpPr>
        <p:spPr>
          <a:xfrm>
            <a:off x="6217407" y="1666280"/>
            <a:ext cx="229068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AMD Developer Cloud</a:t>
            </a:r>
            <a:endParaRPr lang="en-US" sz="1181" dirty="0"/>
          </a:p>
        </p:txBody>
      </p:sp>
      <p:sp>
        <p:nvSpPr>
          <p:cNvPr id="18" name="Text 16"/>
          <p:cNvSpPr/>
          <p:nvPr/>
        </p:nvSpPr>
        <p:spPr>
          <a:xfrm>
            <a:off x="6217407" y="1903363"/>
            <a:ext cx="2290688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MI300X instances through the challenge's $100 developer credits. No hardware required.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3047702"/>
            <a:ext cx="2640732" cy="1692176"/>
          </a:xfrm>
          <a:prstGeom prst="roundRect">
            <a:avLst>
              <a:gd name="adj" fmla="val 5629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794" y="3245048"/>
            <a:ext cx="20906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PROFILING / 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0744" y="320843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2" name="Text 20"/>
          <p:cNvSpPr/>
          <p:nvPr/>
        </p:nvSpPr>
        <p:spPr>
          <a:xfrm>
            <a:off x="635794" y="3508474"/>
            <a:ext cx="229068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Omniperf + Omnitrace</a:t>
            </a:r>
            <a:endParaRPr lang="en-US" sz="1181" dirty="0"/>
          </a:p>
        </p:txBody>
      </p:sp>
      <p:sp>
        <p:nvSpPr>
          <p:cNvPr id="23" name="Text 21"/>
          <p:cNvSpPr/>
          <p:nvPr/>
        </p:nvSpPr>
        <p:spPr>
          <a:xfrm>
            <a:off x="635794" y="3745557"/>
            <a:ext cx="2290688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First-class profiling feeds the tuning stage with real kernel-level data.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7951" y="3044130"/>
            <a:ext cx="5438738" cy="1699320"/>
          </a:xfrm>
          <a:prstGeom prst="roundRect">
            <a:avLst>
              <a:gd name="adj" fmla="val 5605"/>
            </a:avLst>
          </a:prstGeom>
          <a:solidFill>
            <a:srgbClr val="161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47976" y="3252192"/>
            <a:ext cx="48386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B9B9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WHY IT MATTERS / 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00926" y="321558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E460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828" dirty="0"/>
          </a:p>
        </p:txBody>
      </p:sp>
      <p:sp>
        <p:nvSpPr>
          <p:cNvPr id="27" name="Text 25"/>
          <p:cNvSpPr/>
          <p:nvPr/>
        </p:nvSpPr>
        <p:spPr>
          <a:xfrm>
            <a:off x="3447976" y="3772346"/>
            <a:ext cx="5038688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Runtime, cloud, profilers, docs — every layer of this project is AMD technology. 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E46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 is the point.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151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73298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beats the alternatives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1262658"/>
            <a:ext cx="2621756" cy="3271838"/>
          </a:xfrm>
          <a:prstGeom prst="roundRect">
            <a:avLst>
              <a:gd name="adj" fmla="val 3633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437680"/>
            <a:ext cx="2271713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QUO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5794" y="1621631"/>
            <a:ext cx="22717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hipify-perl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635794" y="1924459"/>
            <a:ext cx="2271713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2663056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1794" y="2663056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Syntax-level regex rewrites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960861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1794" y="2960861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Breaks on custom kernels and templates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3258666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1794" y="3258666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build, no test, no verification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794" y="4148733"/>
            <a:ext cx="2271713" cy="0"/>
          </a:xfrm>
          <a:prstGeom prst="line">
            <a:avLst/>
          </a:prstGeom>
          <a:noFill/>
          <a:ln w="7144">
            <a:solidFill>
              <a:srgbClr val="E6E4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794" y="4145161"/>
            <a:ext cx="2271713" cy="21431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VERIFICATION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61122" y="1262658"/>
            <a:ext cx="2621756" cy="3271838"/>
          </a:xfrm>
          <a:prstGeom prst="roundRect">
            <a:avLst>
              <a:gd name="adj" fmla="val 3633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36144" y="1437680"/>
            <a:ext cx="2271713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GUESSING APPROACH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36144" y="1621631"/>
            <a:ext cx="22717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12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Generic AI coders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3436144" y="1924459"/>
            <a:ext cx="2271713" cy="7144"/>
          </a:xfrm>
          <a:prstGeom prst="rect">
            <a:avLst/>
          </a:prstGeom>
          <a:solidFill>
            <a:srgbClr val="E6E4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36144" y="2663056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82144" y="2663056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GPU in the loop — errors found late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36144" y="2960861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82144" y="2960861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Hallucinate APIs without doc grounding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3436144" y="3258666"/>
            <a:ext cx="103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82144" y="3258666"/>
            <a:ext cx="2125712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repo-wide build context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36144" y="4148733"/>
            <a:ext cx="2271713" cy="0"/>
          </a:xfrm>
          <a:prstGeom prst="line">
            <a:avLst/>
          </a:prstGeom>
          <a:noFill/>
          <a:ln w="7144">
            <a:solidFill>
              <a:srgbClr val="E6E4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6144" y="4145161"/>
            <a:ext cx="2271713" cy="21431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GROUNDING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65044" y="1194792"/>
            <a:ext cx="2614613" cy="3264694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 w="14288">
            <a:solidFill>
              <a:srgbClr val="A82727"/>
            </a:solidFill>
            <a:prstDash val="solid"/>
          </a:ln>
          <a:effectLst>
            <a:outerShdw sx="100000" sy="100000" kx="0" ky="0" algn="bl" rotWithShape="0" blurRad="381000" dist="171450" dir="5400000">
              <a:srgbClr val="A82727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06490" y="1105495"/>
            <a:ext cx="664212" cy="200025"/>
          </a:xfrm>
          <a:prstGeom prst="roundRect">
            <a:avLst>
              <a:gd name="adj" fmla="val 19048"/>
            </a:avLst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43638" y="1116211"/>
            <a:ext cx="60420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EDGE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43638" y="1430536"/>
            <a:ext cx="225742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12" kern="0" dirty="0">
                <a:solidFill>
                  <a:srgbClr val="A827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ROCm Migration Copilot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6243638" y="1733364"/>
            <a:ext cx="2257425" cy="7144"/>
          </a:xfrm>
          <a:prstGeom prst="rect">
            <a:avLst/>
          </a:prstGeom>
          <a:solidFill>
            <a:srgbClr val="A8272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43638" y="252821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89638" y="2528218"/>
            <a:ext cx="21114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Repo-wide reasoning before a single edit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6243638" y="2826023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89638" y="2826023"/>
            <a:ext cx="215544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MI300X hardware verifies every change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6243638" y="312382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89638" y="3123828"/>
            <a:ext cx="21114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Confidence-scored, review-ready output</a:t>
            </a:r>
            <a:endParaRPr lang="en-US" sz="788" dirty="0"/>
          </a:p>
        </p:txBody>
      </p:sp>
      <p:sp>
        <p:nvSpPr>
          <p:cNvPr id="39" name="Shape 37"/>
          <p:cNvSpPr/>
          <p:nvPr/>
        </p:nvSpPr>
        <p:spPr>
          <a:xfrm>
            <a:off x="6243638" y="4070152"/>
            <a:ext cx="2257425" cy="0"/>
          </a:xfrm>
          <a:prstGeom prst="line">
            <a:avLst/>
          </a:prstGeom>
          <a:noFill/>
          <a:ln w="7144">
            <a:solidFill>
              <a:srgbClr val="A827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3638" y="4066580"/>
            <a:ext cx="2257425" cy="21431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VERIFIED ON MI300X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69523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alternatives stop at translation — this copilot keeps building, testing, and tuning until the port is verified on real AMD hardware.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492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73298"/>
            <a:ext cx="863600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September </a:t>
            </a:r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A827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December 2026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00063" y="2199382"/>
            <a:ext cx="8143875" cy="14288"/>
          </a:xfrm>
          <a:prstGeom prst="rect">
            <a:avLst/>
          </a:prstGeom>
          <a:solidFill>
            <a:srgbClr val="A82727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98265" y="1870770"/>
            <a:ext cx="3946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3" kern="0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2460129"/>
            <a:ext cx="1921669" cy="1350169"/>
          </a:xfrm>
          <a:prstGeom prst="roundRect">
            <a:avLst>
              <a:gd name="adj" fmla="val 7055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2620863"/>
            <a:ext cx="1600200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spc="-10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pipeline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21506" y="2844105"/>
            <a:ext cx="1600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 + HIP porting stages live; public repo open with weekly builds.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98527" y="1870770"/>
            <a:ext cx="3946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3" kern="0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1034" y="2460129"/>
            <a:ext cx="1921669" cy="1350169"/>
          </a:xfrm>
          <a:prstGeom prst="roundRect">
            <a:avLst>
              <a:gd name="adj" fmla="val 7055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21769" y="2620863"/>
            <a:ext cx="1600200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spc="-10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Hardware-in-the-loop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2721769" y="2844105"/>
            <a:ext cx="1600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Build–test–tune loop running on MI300X; first end-to-end port demo.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98790" y="1870770"/>
            <a:ext cx="3946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3" kern="0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1297" y="2460129"/>
            <a:ext cx="1921669" cy="1350169"/>
          </a:xfrm>
          <a:prstGeom prst="roundRect">
            <a:avLst>
              <a:gd name="adj" fmla="val 7055"/>
            </a:avLst>
          </a:prstGeom>
          <a:solidFill>
            <a:srgbClr val="FFFFFF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031" y="2620863"/>
            <a:ext cx="1600200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spc="-10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Hardening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4822031" y="2844105"/>
            <a:ext cx="1600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Bigger real-world repos, benchmark suite, migration report 2.0.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99052" y="1870770"/>
            <a:ext cx="3946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73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1559" y="2460129"/>
            <a:ext cx="1921669" cy="1350169"/>
          </a:xfrm>
          <a:prstGeom prst="roundRect">
            <a:avLst>
              <a:gd name="adj" fmla="val 7055"/>
            </a:avLst>
          </a:prstGeom>
          <a:solidFill>
            <a:srgbClr val="FBF1F0"/>
          </a:solidFill>
          <a:ln w="7144">
            <a:solidFill>
              <a:srgbClr val="EAD3D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2294" y="2623542"/>
            <a:ext cx="1428750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spc="-10" kern="0" dirty="0">
                <a:solidFill>
                  <a:srgbClr val="1616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 release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8365331" y="26208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8272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6922294" y="2849463"/>
            <a:ext cx="16002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4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Docs, public video demo, launch post, final challenge submission.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26482" y="4711303"/>
            <a:ext cx="57603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5C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MONTHLY CHALLENGE THEMES · SHIPPED AS PROJECT MILESTONES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68028" y="2152948"/>
            <a:ext cx="107156" cy="107156"/>
          </a:xfrm>
          <a:prstGeom prst="ellipse">
            <a:avLst/>
          </a:prstGeom>
          <a:solidFill>
            <a:srgbClr val="FFFFFF"/>
          </a:solidFill>
          <a:ln w="21431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8291" y="2152948"/>
            <a:ext cx="107156" cy="107156"/>
          </a:xfrm>
          <a:prstGeom prst="ellipse">
            <a:avLst/>
          </a:prstGeom>
          <a:solidFill>
            <a:srgbClr val="FFFFFF"/>
          </a:solidFill>
          <a:ln w="21431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68553" y="2152948"/>
            <a:ext cx="107156" cy="107156"/>
          </a:xfrm>
          <a:prstGeom prst="ellipse">
            <a:avLst/>
          </a:prstGeom>
          <a:solidFill>
            <a:srgbClr val="FFFFFF"/>
          </a:solidFill>
          <a:ln w="21431">
            <a:solidFill>
              <a:srgbClr val="A8272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68816" y="2152948"/>
            <a:ext cx="107156" cy="107156"/>
          </a:xfrm>
          <a:prstGeom prst="ellipse">
            <a:avLst/>
          </a:prstGeom>
          <a:solidFill>
            <a:srgbClr val="A82727"/>
          </a:solidFill>
          <a:ln w="21431">
            <a:solidFill>
              <a:srgbClr val="A8272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2727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0113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827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73298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1616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Playing the scoreboard on purpose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059061"/>
            <a:ext cx="5572125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 awards XP per category — this project is shaped to hit the highest-weight ones head-on.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0772" y="1422611"/>
            <a:ext cx="1816857" cy="1590712"/>
          </a:xfrm>
          <a:prstGeom prst="roundRect">
            <a:avLst>
              <a:gd name="adj" fmla="val 5988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981721"/>
            <a:ext cx="1011376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+250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621506" y="2324621"/>
            <a:ext cx="1070301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AMD technology</a:t>
            </a:r>
            <a:endParaRPr lang="en-US" sz="703" dirty="0"/>
          </a:p>
        </p:txBody>
      </p:sp>
      <p:sp>
        <p:nvSpPr>
          <p:cNvPr id="8" name="Text 6"/>
          <p:cNvSpPr/>
          <p:nvPr/>
        </p:nvSpPr>
        <p:spPr>
          <a:xfrm>
            <a:off x="2413360" y="1422611"/>
            <a:ext cx="1816857" cy="1590712"/>
          </a:xfrm>
          <a:prstGeom prst="roundRect">
            <a:avLst>
              <a:gd name="adj" fmla="val 5988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4094" y="1981721"/>
            <a:ext cx="1011376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+200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2574094" y="2324621"/>
            <a:ext cx="1108364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working project</a:t>
            </a:r>
            <a:endParaRPr lang="en-US" sz="703" dirty="0"/>
          </a:p>
        </p:txBody>
      </p:sp>
      <p:sp>
        <p:nvSpPr>
          <p:cNvPr id="11" name="Text 9"/>
          <p:cNvSpPr/>
          <p:nvPr/>
        </p:nvSpPr>
        <p:spPr>
          <a:xfrm>
            <a:off x="4365947" y="1422611"/>
            <a:ext cx="1816857" cy="1590712"/>
          </a:xfrm>
          <a:prstGeom prst="roundRect">
            <a:avLst>
              <a:gd name="adj" fmla="val 5988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6682" y="1981721"/>
            <a:ext cx="1011376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+200</a:t>
            </a:r>
            <a:endParaRPr lang="en-US" sz="2138" dirty="0"/>
          </a:p>
        </p:txBody>
      </p:sp>
      <p:sp>
        <p:nvSpPr>
          <p:cNvPr id="13" name="Text 11"/>
          <p:cNvSpPr/>
          <p:nvPr/>
        </p:nvSpPr>
        <p:spPr>
          <a:xfrm>
            <a:off x="4526682" y="2324621"/>
            <a:ext cx="1163003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source from day one</a:t>
            </a:r>
            <a:endParaRPr lang="en-US" sz="703" dirty="0"/>
          </a:p>
        </p:txBody>
      </p:sp>
      <p:sp>
        <p:nvSpPr>
          <p:cNvPr id="14" name="Text 12"/>
          <p:cNvSpPr/>
          <p:nvPr/>
        </p:nvSpPr>
        <p:spPr>
          <a:xfrm>
            <a:off x="460772" y="3149054"/>
            <a:ext cx="2793095" cy="1590824"/>
          </a:xfrm>
          <a:prstGeom prst="roundRect">
            <a:avLst>
              <a:gd name="adj" fmla="val 5987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3708276"/>
            <a:ext cx="141574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× 100</a:t>
            </a:r>
            <a:endParaRPr lang="en-US" sz="2138" dirty="0"/>
          </a:p>
        </p:txBody>
      </p:sp>
      <p:sp>
        <p:nvSpPr>
          <p:cNvPr id="16" name="Text 14"/>
          <p:cNvSpPr/>
          <p:nvPr/>
        </p:nvSpPr>
        <p:spPr>
          <a:xfrm>
            <a:off x="621506" y="4051176"/>
            <a:ext cx="1064653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milestone drops</a:t>
            </a:r>
            <a:endParaRPr lang="en-US" sz="703" dirty="0"/>
          </a:p>
        </p:txBody>
      </p:sp>
      <p:sp>
        <p:nvSpPr>
          <p:cNvPr id="17" name="Text 15"/>
          <p:cNvSpPr/>
          <p:nvPr/>
        </p:nvSpPr>
        <p:spPr>
          <a:xfrm>
            <a:off x="3389598" y="3149054"/>
            <a:ext cx="2793206" cy="1590824"/>
          </a:xfrm>
          <a:prstGeom prst="roundRect">
            <a:avLst>
              <a:gd name="adj" fmla="val 5987"/>
            </a:avLst>
          </a:prstGeom>
          <a:solidFill>
            <a:srgbClr val="F7F6F4"/>
          </a:solidFill>
          <a:ln w="7144">
            <a:solidFill>
              <a:srgbClr val="E6E4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0332" y="3708276"/>
            <a:ext cx="1011376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A827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+150</a:t>
            </a:r>
            <a:endParaRPr lang="en-US" sz="2138" dirty="0"/>
          </a:p>
        </p:txBody>
      </p:sp>
      <p:sp>
        <p:nvSpPr>
          <p:cNvPr id="19" name="Text 17"/>
          <p:cNvSpPr/>
          <p:nvPr/>
        </p:nvSpPr>
        <p:spPr>
          <a:xfrm>
            <a:off x="3550332" y="4051176"/>
            <a:ext cx="127337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C5C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demo + documentation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6329363" y="1419039"/>
            <a:ext cx="2357438" cy="3324411"/>
          </a:xfrm>
          <a:prstGeom prst="roundRect">
            <a:avLst>
              <a:gd name="adj" fmla="val 4040"/>
            </a:avLst>
          </a:prstGeom>
          <a:solidFill>
            <a:srgbClr val="161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29388" y="2548644"/>
            <a:ext cx="1957388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spc="-65" kern="0" dirty="0">
                <a:solidFill>
                  <a:srgbClr val="E46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~2,475</a:t>
            </a:r>
            <a:endParaRPr lang="en-US" sz="3263" dirty="0"/>
          </a:p>
        </p:txBody>
      </p:sp>
      <p:sp>
        <p:nvSpPr>
          <p:cNvPr id="22" name="Text 20"/>
          <p:cNvSpPr/>
          <p:nvPr/>
        </p:nvSpPr>
        <p:spPr>
          <a:xfrm>
            <a:off x="6529388" y="3062994"/>
            <a:ext cx="20671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B9B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 PLANNED THROUGH DECEMBER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9388" y="4110558"/>
            <a:ext cx="1957388" cy="7144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29388" y="4246290"/>
            <a:ext cx="19573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Individual scoring — one builder, full accountability, zero coordination tax.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297550379-84z9n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1534120"/>
            <a:ext cx="857250" cy="21431"/>
          </a:xfrm>
          <a:prstGeom prst="rect">
            <a:avLst/>
          </a:prstGeom>
          <a:solidFill>
            <a:srgbClr val="A827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71500" y="1769864"/>
            <a:ext cx="8572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E4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ROCM RANGERS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71500" y="2069902"/>
            <a:ext cx="7000875" cy="1232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6"/>
              </a:lnSpc>
              <a:buNone/>
            </a:pPr>
            <a:r>
              <a:rPr lang="en-US" sz="4163" b="1" spc="-8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Give every CUDA codebase an escape hatch.</a:t>
            </a:r>
            <a:endParaRPr lang="en-US" sz="4163" dirty="0"/>
          </a:p>
        </p:txBody>
      </p:sp>
      <p:sp>
        <p:nvSpPr>
          <p:cNvPr id="7" name="Text 3"/>
          <p:cNvSpPr/>
          <p:nvPr/>
        </p:nvSpPr>
        <p:spPr>
          <a:xfrm>
            <a:off x="571500" y="3411587"/>
            <a:ext cx="8001000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C9C9D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ROCm Migration Copilot — open source from day one, verified on MI300X.</a:t>
            </a:r>
            <a:endParaRPr lang="en-US" sz="956" dirty="0"/>
          </a:p>
        </p:txBody>
      </p:sp>
      <p:sp>
        <p:nvSpPr>
          <p:cNvPr id="8" name="Text 4"/>
          <p:cNvSpPr/>
          <p:nvPr/>
        </p:nvSpPr>
        <p:spPr>
          <a:xfrm>
            <a:off x="571500" y="4625578"/>
            <a:ext cx="3305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B9B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LABLAB DISCORD — SAY HI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891000" y="4625578"/>
            <a:ext cx="3078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B9B9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SEPT 1 </a:t>
            </a:r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E46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B9B9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DEC 1 2026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983685" y="4625578"/>
            <a:ext cx="17480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B9B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AMD DEVELOPER CLOUD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2026-09-01T21:19:10Z</dcterms:created>
  <dcterms:modified xsi:type="dcterms:W3CDTF">2026-09-01T21:19:10Z</dcterms:modified>
</cp:coreProperties>
</file>